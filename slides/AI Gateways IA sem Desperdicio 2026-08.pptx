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6"/>
  </p:notesMasterIdLst>
  <p:handoutMasterIdLst>
    <p:handoutMasterId r:id="rId27"/>
  </p:handoutMasterIdLst>
  <p:sldIdLst>
    <p:sldId id="1838" r:id="rId8"/>
    <p:sldId id="1834" r:id="rId9"/>
    <p:sldId id="1837" r:id="rId10"/>
    <p:sldId id="1707" r:id="rId11"/>
    <p:sldId id="1848" r:id="rId12"/>
    <p:sldId id="1765" r:id="rId13"/>
    <p:sldId id="1518" r:id="rId14"/>
    <p:sldId id="1824" r:id="rId15"/>
    <p:sldId id="1850" r:id="rId16"/>
    <p:sldId id="1852" r:id="rId17"/>
    <p:sldId id="1855" r:id="rId18"/>
    <p:sldId id="1858" r:id="rId19"/>
    <p:sldId id="1853" r:id="rId20"/>
    <p:sldId id="1851" r:id="rId21"/>
    <p:sldId id="1859" r:id="rId22"/>
    <p:sldId id="1860" r:id="rId23"/>
    <p:sldId id="1615" r:id="rId24"/>
    <p:sldId id="1750" r:id="rId25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838"/>
            <p14:sldId id="1834"/>
            <p14:sldId id="1837"/>
            <p14:sldId id="1707"/>
            <p14:sldId id="1848"/>
            <p14:sldId id="1765"/>
            <p14:sldId id="1518"/>
            <p14:sldId id="1824"/>
            <p14:sldId id="1850"/>
            <p14:sldId id="1852"/>
            <p14:sldId id="1855"/>
            <p14:sldId id="1858"/>
            <p14:sldId id="1853"/>
            <p14:sldId id="1851"/>
            <p14:sldId id="1859"/>
          </p14:sldIdLst>
        </p14:section>
        <p14:section name="Finalizando" id="{CF622469-3E87-46BA-8ED6-912C47B00EF3}">
          <p14:sldIdLst>
            <p14:sldId id="1860"/>
            <p14:sldId id="1615"/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79472" autoAdjust="0"/>
  </p:normalViewPr>
  <p:slideViewPr>
    <p:cSldViewPr>
      <p:cViewPr>
        <p:scale>
          <a:sx n="56" d="100"/>
          <a:sy n="56" d="100"/>
        </p:scale>
        <p:origin x="1622" y="605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8/27/2026 12:41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8/27/2026 12:41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1:10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2F4D-3553-4E06-C643-2B59F289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03DEFB-E6DA-E25E-CBC0-46CDAE2BA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DD011C-1837-A5CC-CD1B-9FDF3B54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FEA146-1BDC-D679-FC1F-7B56DC72B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6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1:15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7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12:53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E1B-9B13-AB01-EB13-9FA92E46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4E6F95-F0F4-8AEF-81D0-C0978A51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74A610-C848-83D2-D843-C3A4DE52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4D361A1-9C79-0076-B4B2-FC820A9299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01309-B3AC-9B6C-EE64-925EC2D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2BC5179-4CC5-B5DF-5FEE-B51ABD2BA9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1:16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C7A93F-74AC-2D6E-C48F-1397AAB227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7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63A9-B678-7288-CC4C-82DE40E6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5F3DBC0-49AF-0941-1398-154D6C85E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C1AD51-85E0-D9E3-ABDC-BF19EF12E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A8133190-DA42-DE5C-4D7D-FA74B6E94C4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56D9A8-6635-D24A-15F5-9E84A709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FB95B3E-F472-6B1B-CCD5-5A2AF320F03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1:17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41AB3-77DC-8849-8A53-6D22027AA5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9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02BB-8468-7D7D-A304-9F22085D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5D74EF-CDC3-FBCB-3C34-4AFE149EA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79D007-B4D4-1A56-9E2A-C74F479ED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D68CA25-A3BA-FEE6-27F4-008AFDE3B38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94838A-2B36-BD17-278D-BB33312C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1EDE198-B8ED-266C-134A-00EEACBACDD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1:19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9F74D8-7926-6CBB-867D-570A40FCE6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347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C92D6-0EDD-59AE-A074-5F60B935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C2C26C-03A2-F47B-494B-95D3DEAED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2EC074-C7FF-573B-C318-D28C34535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42F6601-6ABD-5013-8F48-F268861B6C6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D6E868-475F-8A14-4FA5-5EDA17FA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81842ABB-CAE9-E0E7-ED9C-E6BF4EE8C7C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1:21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7B89DF-5BD7-4392-190D-AC9FF49336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159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BFF76-91FF-30EA-0499-1880B909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9D7902-DD81-9E0A-4ADA-3D0B0DAE9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0F7B29-8F55-3B73-56BC-68274192A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3582C077-5B4B-21C0-AB8C-58BD6310140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F1A432-4B48-106E-0AD2-301DA67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E0B7FDB-80FC-2102-E6B9-E04C0DD0275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1:26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B48F9A-1E97-366F-8533-13D97B8373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719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6B58-AFD3-9257-84DB-532B333A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865452-E4E8-3FB5-8452-95876FC0F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FB07C0-7904-F461-6A7D-39B89A322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71435C3-F586-EF4E-96C6-E0F11B9362E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BB593-13A7-F5E7-0ED8-2292F0E0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5409885E-6BED-56A2-1B41-81587343100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1:19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126D96-4B22-0804-593E-A8B4E09099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39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37C32-0D0B-762E-17A7-1A9935275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410A39-ACB7-BE30-781A-56C9027D4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B8797C3-B2CA-3B8B-395B-C706B841D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8FDA12F-B67B-6BE4-F2B8-68DF6512D9F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103253-663F-A600-6748-3DAAB20D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A78D6A6-E565-5E1D-5F28-CD1F163903C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8/27/2026 1:31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F9025D-E4A1-56D6-E3C9-54268C1617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734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8/27/2026 12:41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09973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8/27/2026 1:22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jpe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15189BD-7EAE-4A0C-BD8E-B94BE30E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FBDA6EF-1FF4-1884-E318-C9775D5221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3807" y="2278062"/>
            <a:ext cx="6842230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Grafana Champion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</a:p>
          <a:p>
            <a:endParaRPr lang="en-US" sz="2400" dirty="0"/>
          </a:p>
          <a:p>
            <a:r>
              <a:rPr lang="en-US" sz="2800" b="1" dirty="0"/>
              <a:t>Milton Camara Gomes</a:t>
            </a:r>
          </a:p>
          <a:p>
            <a:r>
              <a:rPr lang="en-US" sz="2400" dirty="0"/>
              <a:t>Microsoft MVP,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miltoncamara</a:t>
            </a:r>
            <a:endParaRPr lang="en-US" sz="2400" dirty="0"/>
          </a:p>
          <a:p>
            <a:r>
              <a:rPr lang="en-US" sz="2400" dirty="0"/>
              <a:t>youtube.com/</a:t>
            </a:r>
            <a:r>
              <a:rPr lang="en-US" sz="2400" dirty="0" err="1"/>
              <a:t>azurenapratica</a:t>
            </a:r>
            <a:br>
              <a:rPr lang="en-US" sz="2400" dirty="0"/>
            </a:br>
            <a:endParaRPr lang="en-US" sz="2400" dirty="0"/>
          </a:p>
          <a:p>
            <a:br>
              <a:rPr lang="en-US" sz="2400" dirty="0"/>
            </a:br>
            <a:endParaRPr lang="en-US" sz="2400" dirty="0"/>
          </a:p>
        </p:txBody>
      </p:sp>
      <p:pic>
        <p:nvPicPr>
          <p:cNvPr id="2" name="Imagem 1" descr="Uma imagem contendo desenho&#10;&#10;Descrição gerada automaticamente">
            <a:extLst>
              <a:ext uri="{FF2B5EF4-FFF2-40B4-BE49-F238E27FC236}">
                <a16:creationId xmlns:a16="http://schemas.microsoft.com/office/drawing/2014/main" id="{28312FFF-D8B2-81C5-2657-A5C2CF3133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3" name="Imagem 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55DD0707-CD54-367C-7AB8-9E606BBC7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5" name="Imagem 4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2B56B9CE-9C39-037C-DC6A-2D5C4DA8AB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752A70B-62E7-D85B-9F3C-72E93FDA0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7" name="Imagem 6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3C1D38D7-8C12-E208-1769-8D8485FA65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DDCA989-65F6-02F2-FF6A-B7914D54F5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  <p:sp>
        <p:nvSpPr>
          <p:cNvPr id="18" name="Title 3">
            <a:extLst>
              <a:ext uri="{FF2B5EF4-FFF2-40B4-BE49-F238E27FC236}">
                <a16:creationId xmlns:a16="http://schemas.microsoft.com/office/drawing/2014/main" id="{6D59EB6C-D16C-75E2-C817-86CDB7F0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982" y="361893"/>
            <a:ext cx="11201400" cy="1687569"/>
          </a:xfrm>
        </p:spPr>
        <p:txBody>
          <a:bodyPr/>
          <a:lstStyle/>
          <a:p>
            <a:r>
              <a:rPr lang="pt-BR" sz="4400" b="1" dirty="0"/>
              <a:t>AI Gateways</a:t>
            </a:r>
            <a:br>
              <a:rPr lang="pt-BR" b="1" dirty="0"/>
            </a:br>
            <a:r>
              <a:rPr lang="pt-BR" sz="3600" b="1" dirty="0"/>
              <a:t>Mais segurança e maior governança em suas</a:t>
            </a:r>
            <a:br>
              <a:rPr lang="pt-BR" sz="3600" b="1" dirty="0"/>
            </a:br>
            <a:r>
              <a:rPr lang="pt-BR" sz="3600" b="1" dirty="0"/>
              <a:t>soluções de Inteligência Artificial</a:t>
            </a:r>
            <a:endParaRPr lang="pt-BR" sz="3600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393CCD7-65C2-DF94-79D9-65E8D6F643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4027" y="2354262"/>
            <a:ext cx="1353644" cy="1353644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0CA4EB6-7BD7-74F5-E40F-BFE68B90B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17747" y="2516224"/>
            <a:ext cx="1268320" cy="106950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90B232D-70E6-88B5-5C98-8F09C251B4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3237" y="2494439"/>
            <a:ext cx="1116140" cy="111614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D2AD86F3-6B25-84CC-9134-AA13C98A8B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04437" y="3889371"/>
            <a:ext cx="1018214" cy="1018214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A76B0388-FB9F-1F5B-5E1C-BDB9EA9F9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57497" y="3854183"/>
            <a:ext cx="1194410" cy="106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3831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E6EC-1BE6-EA1B-3E7B-6B1A351F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71E3E6-45C7-C6B2-62BE-DFC2119C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Valuable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 de Engenharia – Robbu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7CEDAB-9C50-B264-2537-71B7BBEF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Milton Câmara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477AD96F-810B-FC4E-C575-D81C8C79F828}"/>
              </a:ext>
            </a:extLst>
          </p:cNvPr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DAF4573F-A6D4-9BE6-4B0F-3D5B2BBAE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5315461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m do perfil">
            <a:extLst>
              <a:ext uri="{FF2B5EF4-FFF2-40B4-BE49-F238E27FC236}">
                <a16:creationId xmlns:a16="http://schemas.microsoft.com/office/drawing/2014/main" id="{586564DB-6B03-0AAF-4ACC-92538617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037" y="623814"/>
            <a:ext cx="22098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433B3E-37AE-58E8-A6AD-BDC718C22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597" y="3386192"/>
            <a:ext cx="2499753" cy="245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885A30A-F6F5-170B-4617-E99E3981F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" y="0"/>
            <a:ext cx="12434711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0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19780270-F482-07D3-C43F-7AE468A5461A}"/>
              </a:ext>
            </a:extLst>
          </p:cNvPr>
          <p:cNvSpPr>
            <a:spLocks noGrp="1"/>
          </p:cNvSpPr>
          <p:nvPr/>
        </p:nvSpPr>
        <p:spPr>
          <a:xfrm>
            <a:off x="731837" y="4199397"/>
            <a:ext cx="10937066" cy="55861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700" b="1" dirty="0">
                <a:solidFill>
                  <a:schemeClr val="bg1"/>
                </a:solidFill>
              </a:rPr>
              <a:t>github.com/renatogroffe/ai-gateways_ia-sem-desperdicio-2026-08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74A7881-9B2B-0E2D-EB79-A4A017C4EB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8435" y="5055898"/>
            <a:ext cx="1353644" cy="1353644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40F6F7D5-1872-454A-0976-B5597B78A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155" y="5217860"/>
            <a:ext cx="1268320" cy="1069503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4C62B64-E9E3-B4DF-9D0B-CE7E4FC527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9155" y="5156676"/>
            <a:ext cx="1295400" cy="115993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99E746F-C8E1-9319-C120-F7BEF8F1B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645" y="5196075"/>
            <a:ext cx="1116140" cy="111614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51FA533-0671-280A-0096-78C4307C04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3155" y="5150464"/>
            <a:ext cx="1191682" cy="119168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CB15520-F62D-4738-0A18-881275AB11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325" y="1154553"/>
            <a:ext cx="2963863" cy="2963863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0D18734-8C5C-1A64-1020-0E30C96A2806}"/>
              </a:ext>
            </a:extLst>
          </p:cNvPr>
          <p:cNvSpPr txBox="1">
            <a:spLocks/>
          </p:cNvSpPr>
          <p:nvPr/>
        </p:nvSpPr>
        <p:spPr>
          <a:xfrm>
            <a:off x="7656339" y="2119274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57179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129266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AI Gateways: visão geral, possibilidades e alternativas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90A333E-95B9-6AC9-4026-272EB7587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8435" y="4335462"/>
            <a:ext cx="1353644" cy="135364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C0E1060-3292-019F-CDED-C5184199FA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155" y="4497424"/>
            <a:ext cx="1268320" cy="106950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FC9B8D94-8273-281E-D7DF-DF9217C2D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9155" y="4436240"/>
            <a:ext cx="1295400" cy="115993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07901B0-D98F-1CCF-7CE5-AA75DFAA5D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645" y="4475639"/>
            <a:ext cx="1116140" cy="111614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AF180F9-9808-9A9A-BCB7-3FD37C72FA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3155" y="4430028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E85D-263C-3C80-8BED-DD8321A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F94C3-8BE8-C5F2-9E16-2ABE55CC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O que é um AI Gateway?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27CA1-1460-0AB0-5B37-8B577DD25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211262"/>
            <a:ext cx="7041271" cy="552766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Ponto central de acesso aos modelos de 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Centraliza chamadas para diferentes provedores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Abstrai detalhes dos modelos e APIs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Aplica políticas antes das requisições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Facilita o gerenciamento de aplicações de IA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B62ECA9-2B62-0A15-DF6E-C1433B9D7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65BF1A8C-A02D-F00A-DF3E-20E7420F42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F6BBA66-BB0E-6ADF-34CC-0D5141620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B48BDC3-0964-BA89-20D0-A64E96039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899A614-6837-6845-8EF9-8688CC99CB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1983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135F-74A6-F54A-39D3-123BBAFF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E98CB-57B7-89DB-9D90-02264D59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Por que utilizar um AI Gateway?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2219E8-BCC2-10B2-5567-09E35BB7C9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452102"/>
            <a:ext cx="7041271" cy="440736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Segurança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controle de acesso e proteção das APIs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Governança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políticas centralizadas para uso de 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Observabilidade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métricas, logs e rastreamento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Custos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controle e acompanhamento do consumo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Flexibilidade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troca de modelos sem alterar aplicações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10BB5F5E-4353-41A9-DDEB-C83344C36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D1CE2210-CDAC-89D3-8E77-3095A81F7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BCEFE1DA-EBF1-581D-C2C6-CCC57FAB5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C9C424A-D66F-C9A1-446F-ADCDFE3E0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0D46F97-780B-2E32-7F6A-1D1A0ABA6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8549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4BDC-01A4-3365-1AEB-C1451306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A7FE4-6EBB-8255-9390-6A24CB7E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Segurança para aplicações de 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9DC414-DB83-19F7-195F-80E5B8C928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452102"/>
            <a:ext cx="7041271" cy="4567404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cs typeface="Segoe UI Light"/>
              </a:rPr>
              <a:t>Autenticação e autorização centralizadas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cs typeface="Segoe UI Light"/>
              </a:rPr>
              <a:t>Controle de acesso por aplicação ou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cs typeface="Segoe UI Light"/>
              </a:rPr>
              <a:t>Rate </a:t>
            </a:r>
            <a:r>
              <a:rPr lang="pt-BR" sz="3200" dirty="0" err="1">
                <a:solidFill>
                  <a:srgbClr val="494949"/>
                </a:solidFill>
                <a:cs typeface="Segoe UI Light"/>
              </a:rPr>
              <a:t>limiting</a:t>
            </a:r>
            <a:r>
              <a:rPr lang="pt-BR" sz="3200" dirty="0">
                <a:solidFill>
                  <a:srgbClr val="494949"/>
                </a:solidFill>
                <a:cs typeface="Segoe UI Light"/>
              </a:rPr>
              <a:t> e proteção contra abusos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cs typeface="Segoe UI Light"/>
              </a:rPr>
              <a:t>Gerenciamento seguro de credenciais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cs typeface="Segoe UI Light"/>
              </a:rPr>
              <a:t>Filtros para requisições e respostas</a:t>
            </a:r>
            <a:endParaRPr lang="pt-BR" sz="32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08A5020-0B21-7A89-C438-EF7E1789C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B442DD6C-1B3A-EEA6-DA27-31270A685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EB9DC75A-E196-5D2E-D20D-CEF836DCB0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B01FDB2-3C57-AAA1-E412-68BED092D2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F0EFE41-95F2-06D5-F492-3854237B7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2491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F758C-8BE0-6902-C1B3-92808DE9B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25FBB-2FAC-39DF-5EF8-8E2A0252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Governança e Controle com AI Gateways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3DD86C-6998-AA07-0B94-84E27A3655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452102"/>
            <a:ext cx="7041271" cy="5115246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Políticas de uso dos modelos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Limites de tokens e requisições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Controle de modelos e provedores permitidos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Auditoria e rastreabilidade das chamadas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Chargeback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 e acompanhamento de custos (</a:t>
            </a:r>
            <a:r>
              <a:rPr lang="pt-BR" sz="3600" b="1" dirty="0" err="1">
                <a:solidFill>
                  <a:srgbClr val="494949"/>
                </a:solidFill>
                <a:cs typeface="Segoe UI Light"/>
              </a:rPr>
              <a:t>FinOps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)</a:t>
            </a:r>
            <a:endParaRPr lang="pt-BR" sz="36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1E8CDE1C-F027-2BE0-C368-49D10F67C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6FE4A6A0-0BAD-813F-05CC-7D6A6161B2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DB05E181-9A32-577D-3233-AB056094B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77398EF-6745-B7FF-6A55-15108D9D8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2AA6218-BC4D-5DFA-3FBF-8914FC1C1B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7468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E7B8-ED23-1F94-DCF7-F9FB6228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20413-9559-64B6-B1A0-A9C0C904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Iniciativas OWASP voltadas à área de 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D8ABAD-4E86-7142-9396-4DEC647CE3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817612"/>
            <a:ext cx="7315199" cy="411805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494949"/>
                </a:solidFill>
                <a:cs typeface="Segoe UI Light"/>
              </a:rPr>
              <a:t>OWASP Top 10 for LLM Applications 2026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494949"/>
              </a:solidFill>
              <a:ea typeface="+mj-lt"/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494949"/>
                </a:solidFill>
                <a:ea typeface="+mj-lt"/>
                <a:cs typeface="+mj-lt"/>
              </a:rPr>
              <a:t>OWASP Top 10 for Agentic Applications for 2026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ea typeface="+mj-lt"/>
                <a:cs typeface="+mj-lt"/>
              </a:rPr>
              <a:t>OWASP MCP Top 10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B6F745-8E67-A6CB-CFD5-4D0F686C5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" r="416"/>
          <a:stretch/>
        </p:blipFill>
        <p:spPr>
          <a:xfrm>
            <a:off x="7893419" y="2125662"/>
            <a:ext cx="3582618" cy="345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3685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9383-A317-E6F2-351C-083D1F08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F27B8-45EF-AA0B-A006-B6BF6B83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AI Gateways: algumas alternativas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171ED7-6540-1691-B382-DE0AB10F55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680499"/>
            <a:ext cx="7041271" cy="379796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APISIX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Azure API Management (APIM)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Azure AI Gateway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Kong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LiteLLM</a:t>
            </a:r>
            <a:endParaRPr lang="pt-BR" sz="36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....</a:t>
            </a:r>
            <a:endParaRPr lang="pt-BR" sz="36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B43EB62-7AB1-98AA-0A01-5544D7DC2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42148CBC-F592-3664-9038-7F16A2BA2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53A31EC-9A05-0C6F-A851-F3D7BC6BDD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F9145E6-9F6A-54A6-3C58-E6EEBD1F5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1F6F536-8FEF-9A40-801D-89BFF1FEE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8563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https://apisix.apache.org/img/ai-gateway/hero.png">
            <a:extLst>
              <a:ext uri="{FF2B5EF4-FFF2-40B4-BE49-F238E27FC236}">
                <a16:creationId xmlns:a16="http://schemas.microsoft.com/office/drawing/2014/main" id="{524EC1E6-A321-4C12-705E-3334CEC2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7" y="906462"/>
            <a:ext cx="11261656" cy="556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3969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FD51-360A-DC13-919D-57373BC6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https://apisix.apache.org/img/ai-gateway/architecture.png">
            <a:extLst>
              <a:ext uri="{FF2B5EF4-FFF2-40B4-BE49-F238E27FC236}">
                <a16:creationId xmlns:a16="http://schemas.microsoft.com/office/drawing/2014/main" id="{4D12A4E9-A55B-2233-934B-08370746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27" y="-95536"/>
            <a:ext cx="11536907" cy="721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382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573F-C611-BBCD-4244-3A23BD9B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5C00A-42EF-6B13-C803-5A41DDB0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51225291-6BBC-7FF2-6AF2-4E4098F1252D}"/>
              </a:ext>
            </a:extLst>
          </p:cNvPr>
          <p:cNvSpPr>
            <a:spLocks noGrp="1"/>
          </p:cNvSpPr>
          <p:nvPr/>
        </p:nvSpPr>
        <p:spPr>
          <a:xfrm>
            <a:off x="731837" y="4199397"/>
            <a:ext cx="10937066" cy="55861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700" b="1" dirty="0">
                <a:solidFill>
                  <a:schemeClr val="bg1"/>
                </a:solidFill>
              </a:rPr>
              <a:t>github.com/renatogroffe/ai-gateways_ia-sem-desperdicio-2026-08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44E00CE-D513-6A4F-42D3-258459F8B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8435" y="5055898"/>
            <a:ext cx="1353644" cy="1353644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B1BC5888-995F-0690-1AC5-9B2BC4BA9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155" y="5217860"/>
            <a:ext cx="1268320" cy="1069503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B509BFB-4B17-990E-A606-9834BC508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9155" y="5156676"/>
            <a:ext cx="1295400" cy="115993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80CF375-1992-6D12-B01D-2069648EF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645" y="5196075"/>
            <a:ext cx="1116140" cy="111614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E10F1C4-3C10-AB70-E032-0F5124BE35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3155" y="5150464"/>
            <a:ext cx="1191682" cy="119168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29C02F3-6186-E79D-9BF6-251081F4D0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325" y="1154553"/>
            <a:ext cx="2963863" cy="2963863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558D7FC-2F86-00DC-596F-EEA4481FC8CB}"/>
              </a:ext>
            </a:extLst>
          </p:cNvPr>
          <p:cNvSpPr txBox="1">
            <a:spLocks/>
          </p:cNvSpPr>
          <p:nvPr/>
        </p:nvSpPr>
        <p:spPr>
          <a:xfrm>
            <a:off x="7656339" y="2119274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173712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049462"/>
            <a:ext cx="4876800" cy="3013448"/>
          </a:xfrm>
        </p:spPr>
        <p:txBody>
          <a:bodyPr/>
          <a:lstStyle/>
          <a:p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93502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51606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FBA41F-8799-3426-9525-9DA6F87A4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305" y="3040062"/>
            <a:ext cx="2963863" cy="296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1633</TotalTime>
  <Words>816</Words>
  <Application>Microsoft Office PowerPoint</Application>
  <PresentationFormat>Personalizar</PresentationFormat>
  <Paragraphs>132</Paragraphs>
  <Slides>18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18</vt:i4>
      </vt:variant>
    </vt:vector>
  </HeadingPairs>
  <TitlesOfParts>
    <vt:vector size="29" baseType="lpstr">
      <vt:lpstr>Arial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AI Gateways Mais segurança e maior governança em suas soluções de Inteligência Artificial</vt:lpstr>
      <vt:lpstr>Renato Groffe</vt:lpstr>
      <vt:lpstr>Milton Câmara</vt:lpstr>
      <vt:lpstr>Participe de nossas iniciativas gratuitas</vt:lpstr>
      <vt:lpstr>Apresentação do PowerPoint</vt:lpstr>
      <vt:lpstr>Conteúdos desta apresentação</vt:lpstr>
      <vt:lpstr>Agenda</vt:lpstr>
      <vt:lpstr>O que é um AI Gateway?</vt:lpstr>
      <vt:lpstr>Por que utilizar um AI Gateway?</vt:lpstr>
      <vt:lpstr>Segurança para aplicações de IA</vt:lpstr>
      <vt:lpstr>Governança e Controle com AI Gateways</vt:lpstr>
      <vt:lpstr>Iniciativas OWASP voltadas à área de IA</vt:lpstr>
      <vt:lpstr>AI Gateways: algumas alternativas</vt:lpstr>
      <vt:lpstr>Apresentação do PowerPoint</vt:lpstr>
      <vt:lpstr>Apresentação do PowerPoint</vt:lpstr>
      <vt:lpstr>Conteúdos desta apresentação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510</cp:revision>
  <dcterms:created xsi:type="dcterms:W3CDTF">2016-08-05T22:03:34Z</dcterms:created>
  <dcterms:modified xsi:type="dcterms:W3CDTF">2026-08-27T04:34:15Z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